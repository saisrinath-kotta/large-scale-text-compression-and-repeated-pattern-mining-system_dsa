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38404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DSA-3 · ADVANCED ALGORITHMS REVIEW (MODULES 1–3)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Large-Scale Text Compression and</a:t>
            </a:r>
            <a:br/>
            <a:r>
              <a:t>Repeated Pattern Mining System</a:t>
            </a:r>
          </a:p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Project TextHack · Question-Bank Architecture &amp; Algorithmic Indexing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023360"/>
            <a:ext cx="10362895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20624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PROJECT TEAM MEMBERS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Anvith (2510030191)   •   Sai Srinath (2510030261)   •   Keerthana S (2510030039)   •   Keerthana V (2510030041)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Syllabus Coverage: Module 1 (System Framing), Module 2 (String Algorithms), Module 3 (Advanced DP)</a:t>
            </a:r>
            <a:br/>
            <a:r>
              <a:t>Implementation: Pure Java · Zero Third-Party Algorithm Libraries · Indian Corpora (Hindi, Telugu, English)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Why Advanced Algorithmic Text Analytics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1. The Scale Problem</a:t>
            </a:r>
          </a:p>
          <a:p>
            <a:pPr>
              <a:spcAft>
                <a:spcPts val="1200"/>
              </a:spcAft>
              <a:defRPr sz="1250" b="1">
                <a:solidFill>
                  <a:srgbClr val="0F172A"/>
                </a:solidFill>
              </a:defRPr>
            </a:pPr>
            <a:r>
              <a:t>Corpora are far too large for naive O(n²) string algorithms.</a:t>
            </a:r>
          </a:p>
          <a:p>
            <a:pPr>
              <a:lnSpc>
                <a:spcPct val="135000"/>
              </a:lnSpc>
              <a:defRPr sz="1150">
                <a:solidFill>
                  <a:srgbClr val="64748B"/>
                </a:solidFill>
              </a:defRPr>
            </a:pPr>
            <a:r>
              <a:t>Modern text corpora (multilingual Wikipedia dumps, genomic sequences, server logs) contain millions of tokens. Quadratic comparisons fail to execute in acceptable time frames.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82880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2. Massive Redundancy</a:t>
            </a:r>
          </a:p>
          <a:p>
            <a:pPr>
              <a:spcAft>
                <a:spcPts val="1200"/>
              </a:spcAft>
              <a:defRPr sz="1250" b="1">
                <a:solidFill>
                  <a:srgbClr val="0F172A"/>
                </a:solidFill>
              </a:defRPr>
            </a:pPr>
            <a:r>
              <a:t>Natural text repeats phrases and boilerplate constantly.</a:t>
            </a:r>
          </a:p>
          <a:p>
            <a:pPr>
              <a:lnSpc>
                <a:spcPct val="135000"/>
              </a:lnSpc>
              <a:defRPr sz="1150">
                <a:solidFill>
                  <a:srgbClr val="64748B"/>
                </a:solidFill>
              </a:defRPr>
            </a:pPr>
            <a:r>
              <a:t>Indian-language corpora repeat official terms, boilerplate, and idioms. Storing and scanning redundant substrings repeatedly wastes storage and compute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82880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3. Beyond DSA-1 / DSA-2</a:t>
            </a:r>
          </a:p>
          <a:p>
            <a:pPr>
              <a:spcAft>
                <a:spcPts val="1200"/>
              </a:spcAft>
              <a:defRPr sz="1250" b="1">
                <a:solidFill>
                  <a:srgbClr val="0F172A"/>
                </a:solidFill>
              </a:defRPr>
            </a:pPr>
            <a:r>
              <a:t>Standard linear/tree structures cannot solve sub-quadratic mining.</a:t>
            </a:r>
          </a:p>
          <a:p>
            <a:pPr>
              <a:lnSpc>
                <a:spcPct val="135000"/>
              </a:lnSpc>
              <a:defRPr sz="1150">
                <a:solidFill>
                  <a:srgbClr val="64748B"/>
                </a:solidFill>
              </a:defRPr>
            </a:pPr>
            <a:r>
              <a:t>Standard BSTs, HashMaps, and naive graphs cannot perform sub-quadratic substring search, optimal sequence alignment, or capacity-constrained assignment.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1 · SYSTEM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TextHack as the Advanced-Algorithm Question Bank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2563EB"/>
                </a:solidFill>
              </a:defRPr>
            </a:pPr>
            <a:r>
              <a:t>THE ADVANCED CANON &amp; CONSTRAINTS</a:t>
            </a:r>
          </a:p>
          <a:p>
            <a:pPr>
              <a:lnSpc>
                <a:spcPct val="135000"/>
              </a:lnSpc>
              <a:defRPr sz="1150">
                <a:solidFill>
                  <a:srgbClr val="0F172A"/>
                </a:solidFill>
              </a:defRPr>
            </a:pPr>
            <a:r>
              <a:t>• Working Engine on Day One:</a:t>
            </a:r>
            <a:br/>
            <a:r>
              <a:t>  Users issue queries against an Indian-language Wikipedia corpus and observe concrete outputs before inspecting internals.</a:t>
            </a:r>
            <a:br/>
            <a:br/>
            <a:r>
              <a:t>• Textbook Canon Territory:</a:t>
            </a:r>
            <a:br/>
            <a:r>
              <a:t>  Mapped directly to CLRS Part VII, Kleinberg-Tardos Ch 6–13, and Erickson Ch 4–12.</a:t>
            </a:r>
            <a:br/>
            <a:br/>
            <a:r>
              <a:t>• The Core Engine Constraint:</a:t>
            </a:r>
            <a:br/>
            <a:r>
              <a:t>  No java.util collections or regex for algorithms. All data structures and algorithms are manually written from scratch.</a:t>
            </a:r>
            <a:br/>
            <a:br/>
            <a:r>
              <a:t>• Public API Design First:</a:t>
            </a:r>
            <a:br/>
            <a:r>
              <a:t>  Every query class is designed with asymptotic time/space bounds before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2563EB"/>
                </a:solidFill>
              </a:defRPr>
            </a:pPr>
            <a:r>
              <a:t>QUERY CLASS → ALGORITHM FAMILY MAPPING</a:t>
            </a:r>
          </a:p>
          <a:p>
            <a:pPr>
              <a:lnSpc>
                <a:spcPct val="130000"/>
              </a:lnSpc>
              <a:defRPr sz="1100">
                <a:solidFill>
                  <a:srgbClr val="0F172A"/>
                </a:solidFill>
              </a:defRPr>
            </a:pPr>
            <a:r>
              <a:t>1. Exact Pattern Search:</a:t>
            </a:r>
            <a:br/>
            <a:r>
              <a:t>   → String Algorithms (KMP, Z-Function, Rabin-Karp)</a:t>
            </a:r>
            <a:br/>
            <a:br/>
            <a:r>
              <a:t>2. Multi-Pattern Keyword Scan:</a:t>
            </a:r>
            <a:br/>
            <a:r>
              <a:t>   → Automaton Matching (Aho-Corasick)</a:t>
            </a:r>
            <a:br/>
            <a:br/>
            <a:r>
              <a:t>3. Repeated Pattern Mining:</a:t>
            </a:r>
            <a:br/>
            <a:r>
              <a:t>   → Suffix Indexing (Suffix Array + Kasai LCP)</a:t>
            </a:r>
            <a:br/>
            <a:br/>
            <a:r>
              <a:t>4. Fuzzy Matching &amp; Alignment:</a:t>
            </a:r>
            <a:br/>
            <a:r>
              <a:t>   → Dynamic Programming (Wagner-Fischer)</a:t>
            </a:r>
            <a:br/>
            <a:br/>
            <a:r>
              <a:t>5. Citation Flow &amp; Similarity (Future Scope):</a:t>
            </a:r>
            <a:br/>
            <a:r>
              <a:t>   → Max-Flow &amp; Suffix Factorisation</a:t>
            </a:r>
            <a:br/>
            <a:br/>
            <a:r>
              <a:t>6. Project Scheduling &amp; Primality (Future Scope):</a:t>
            </a:r>
            <a:br/>
            <a:r>
              <a:t>   → NP-Hard Approximation &amp; Randomized Hashing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Pipeline Architecture &amp; Execution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1. Corpus Ingestion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UTF-8 Indian Language Ingestion</a:t>
            </a:r>
          </a:p>
          <a:p>
            <a:pPr>
              <a:lnSpc>
                <a:spcPct val="135000"/>
              </a:lnSpc>
              <a:defRPr sz="1150">
                <a:solidFill>
                  <a:srgbClr val="64748B"/>
                </a:solidFill>
              </a:defRPr>
            </a:pPr>
            <a:r>
              <a:t>• CorpusLoader.java reads UTF-8 text.</a:t>
            </a:r>
            <a:br/>
            <a:r>
              <a:t>• Indian script preservation (Devanagari, Telugu, Tamil).</a:t>
            </a:r>
            <a:br/>
            <a:r>
              <a:t>• Zero external parsing libraries.</a:t>
            </a:r>
            <a:br/>
            <a:r>
              <a:t>• Reports character count, line count, and byte volume.</a:t>
            </a:r>
            <a:br/>
            <a:r>
              <a:t>• Supplies normalized text to all engine modules.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82880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2. Search Dispatch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Query Routing to Algorithm Family</a:t>
            </a:r>
          </a:p>
          <a:p>
            <a:pPr>
              <a:lnSpc>
                <a:spcPct val="135000"/>
              </a:lnSpc>
              <a:defRPr sz="1150">
                <a:solidFill>
                  <a:srgbClr val="64748B"/>
                </a:solidFill>
              </a:defRPr>
            </a:pPr>
            <a:r>
              <a:t>• Exact Single Search:</a:t>
            </a:r>
            <a:br/>
            <a:r>
              <a:t>  - KMP (LPS Prefix Array)</a:t>
            </a:r>
            <a:br/>
            <a:r>
              <a:t>  - Z-Function ([L, R] Window)</a:t>
            </a:r>
            <a:br/>
            <a:r>
              <a:t>  - Rabin-Karp (Double Hash)</a:t>
            </a:r>
            <a:br/>
            <a:r>
              <a:t>• Multi-Pattern Search:</a:t>
            </a:r>
            <a:br/>
            <a:r>
              <a:t>  - Aho-Corasick (Trie + BFS)</a:t>
            </a:r>
            <a:br/>
            <a:r>
              <a:t>• Fuzzy Alignment:</a:t>
            </a:r>
            <a:br/>
            <a:r>
              <a:t>  - Wagner-Fischer 2D DP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82880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3. Suffix Mining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Suffix Array + Kasai LCP</a:t>
            </a:r>
          </a:p>
          <a:p>
            <a:pPr>
              <a:lnSpc>
                <a:spcPct val="135000"/>
              </a:lnSpc>
              <a:defRPr sz="1150">
                <a:solidFill>
                  <a:srgbClr val="64748B"/>
                </a:solidFill>
              </a:defRPr>
            </a:pPr>
            <a:r>
              <a:t>• SuffixArray.java:</a:t>
            </a:r>
            <a:br/>
            <a:r>
              <a:t>  Practical O(n log² n) Prefix Doubling.</a:t>
            </a:r>
            <a:br/>
            <a:r>
              <a:t>• KasaiLCP.java:</a:t>
            </a:r>
            <a:br/>
            <a:r>
              <a:t>  O(n) Linear LCP Construction.</a:t>
            </a:r>
            <a:br/>
            <a:r>
              <a:t>• PatternMiner.java:</a:t>
            </a:r>
            <a:br/>
            <a:r>
              <a:t>  LCP Interval Stack to discover maximal repeated patterns and corpus occurrences.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2 · STRING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Exact Pattern Matching: KMP, Z-Algorithm &amp; Rabin-Karp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0F172A"/>
                </a:solidFill>
              </a:defRPr>
            </a:pPr>
            <a:r>
              <a:t>Knuth-Morris-Pratt (KMP)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</a:defRPr>
            </a:pPr>
            <a:r>
              <a:t>O(n + m) Time · O(m) Space</a:t>
            </a:r>
          </a:p>
          <a:p>
            <a:pPr>
              <a:lnSpc>
                <a:spcPct val="135000"/>
              </a:lnSpc>
              <a:defRPr sz="1100">
                <a:solidFill>
                  <a:srgbClr val="64748B"/>
                </a:solidFill>
              </a:defRPr>
            </a:pPr>
            <a:r>
              <a:t>• Problem: Naive matching takes O(nm). KMP prevents re-scanning text.</a:t>
            </a:r>
            <a:br/>
            <a:r>
              <a:t>• Failure Function: lps[i] stores the length of the longest proper prefix that is also a suffix.</a:t>
            </a:r>
            <a:br/>
            <a:r>
              <a:t>• Preprocessing Intuition: On mismatch, len falls back to lps[len - 1].</a:t>
            </a:r>
            <a:br/>
            <a:r>
              <a:t>• Search: Text pointer i never rewinds; pattern pointer j shifts via LPS.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82880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0F172A"/>
                </a:solidFill>
              </a:defRPr>
            </a:pPr>
            <a:r>
              <a:t>Linear Z-Algorithm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</a:defRPr>
            </a:pPr>
            <a:r>
              <a:t>O(n + m) Time · O(n + m) Space</a:t>
            </a:r>
          </a:p>
          <a:p>
            <a:pPr>
              <a:lnSpc>
                <a:spcPct val="135000"/>
              </a:lnSpc>
              <a:defRPr sz="1100">
                <a:solidFill>
                  <a:srgbClr val="64748B"/>
                </a:solidFill>
              </a:defRPr>
            </a:pPr>
            <a:r>
              <a:t>• Modern Alternative to KMP: Computes Z-array for string P + $ + T in linear time.</a:t>
            </a:r>
            <a:br/>
            <a:r>
              <a:t>• [L, R] Window Logic: Maintains the furthest matching prefix segment.</a:t>
            </a:r>
            <a:br/>
            <a:r>
              <a:t>• In-Box Lookups: If i &lt;= R, resolves Z[i] = Z[i - L] in O(1) if within remaining window.</a:t>
            </a:r>
            <a:br/>
            <a:r>
              <a:t>• Expand Beyond R: Only new characters are compared.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82880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0F172A"/>
                </a:solidFill>
              </a:defRPr>
            </a:pPr>
            <a:r>
              <a:t>Rabin-Karp Rolling Hash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</a:defRPr>
            </a:pPr>
            <a:r>
              <a:t>Average O(n + m) · O(1) Space</a:t>
            </a:r>
          </a:p>
          <a:p>
            <a:pPr>
              <a:lnSpc>
                <a:spcPct val="135000"/>
              </a:lnSpc>
              <a:defRPr sz="1100">
                <a:solidFill>
                  <a:srgbClr val="64748B"/>
                </a:solidFill>
              </a:defRPr>
            </a:pPr>
            <a:r>
              <a:t>• Polynomial Rolling Hash: Slides window in O(1) by subtracting outgoing &amp; adding incoming char.</a:t>
            </a:r>
            <a:br/>
            <a:r>
              <a:t>• Modular Discipline: Large 64-bit primes prevent overflow.</a:t>
            </a:r>
            <a:br/>
            <a:r>
              <a:t>• Double Hashing: Uses MOD1=10⁹+7 &amp; MOD2=10⁹+9 (collision rate ~10⁻¹⁸).</a:t>
            </a:r>
            <a:br/>
            <a:r>
              <a:t>• Character Verification: Guarantees zero false positives.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2 · STRING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Multi-Pattern Matching: Aho-Corasick Automaton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0350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2563EB"/>
                </a:solidFill>
              </a:defRPr>
            </a:pPr>
            <a:r>
              <a:t>TRIE-WITH-FAILURE-LINKS CONSTRUCTION</a:t>
            </a:r>
          </a:p>
          <a:p>
            <a:pPr>
              <a:lnSpc>
                <a:spcPct val="135000"/>
              </a:lnSpc>
              <a:defRPr sz="1150">
                <a:solidFill>
                  <a:srgbClr val="0F172A"/>
                </a:solidFill>
              </a:defRPr>
            </a:pPr>
            <a:r>
              <a:t>• Motivation:</a:t>
            </a:r>
            <a:br/>
            <a:r>
              <a:t>  Scanning text of length n for k patterns with single-pattern matchers requires O(k · n). Aho-Corasick solves this in a single pass of O(n + ∑m + z).</a:t>
            </a:r>
            <a:br/>
            <a:br/>
            <a:r>
              <a:t>• Trie Construction:</a:t>
            </a:r>
            <a:br/>
            <a:r>
              <a:t>  All patterns are inserted into a shared prefix tree.</a:t>
            </a:r>
            <a:br/>
            <a:br/>
            <a:r>
              <a:t>• BFS Failure Link Construction:</a:t>
            </a:r>
            <a:br/>
            <a:r>
              <a:t>  Failure links connect state v to the longest proper suffix state existing in the trie. Computed via BFS queue traversal so shallower states are resolved first.</a:t>
            </a:r>
            <a:br/>
            <a:br/>
            <a:r>
              <a:t>• Output Dictionary Suffix Links:</a:t>
            </a:r>
            <a:br/>
            <a:r>
              <a:t>  If a failure state represents a matched keyword, that keyword is added to the current state's output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508760"/>
            <a:ext cx="4389120" cy="4663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VERIFIED DEMO OUTPUT</a:t>
            </a:r>
          </a:p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t>Text: "ushers"</a:t>
            </a:r>
            <a:br/>
            <a:r>
              <a:t>Patterns: [he, she, his, hers]</a:t>
            </a:r>
            <a:br/>
            <a:br/>
            <a:r>
              <a:t>Results:</a:t>
            </a:r>
            <a:br/>
            <a:r>
              <a:t>  • "she"   → Found at index 1</a:t>
            </a:r>
            <a:br/>
            <a:r>
              <a:t>  • "he"    → Found at index 2</a:t>
            </a:r>
            <a:br/>
            <a:r>
              <a:t>  • "hers"  → Found at index 2</a:t>
            </a:r>
            <a:br/>
            <a:r>
              <a:t>  • "his"   → 0 matches</a:t>
            </a:r>
            <a:br/>
            <a:br/>
            <a:r>
              <a:t>Indian Language Multi-Pattern:</a:t>
            </a:r>
            <a:br/>
            <a:r>
              <a:t>Text: Hindi Wikipedia corpus</a:t>
            </a:r>
            <a:br/>
            <a:r>
              <a:t>Patterns: [भारत, भारतीय, संस्कृति]</a:t>
            </a:r>
            <a:br/>
            <a:r>
              <a:t>  → Matches all patterns concurrently in a single linear pass!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2 · SUFFIX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Suffix Array, Kasai's LCP &amp; Advanced Structures Preview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563EB"/>
                </a:solidFill>
              </a:defRPr>
            </a:pPr>
            <a:r>
              <a:t>SUFFIX ARRAY (O(n log² n) DOUBLING)</a:t>
            </a:r>
          </a:p>
          <a:p>
            <a:pPr>
              <a:lnSpc>
                <a:spcPct val="130000"/>
              </a:lnSpc>
              <a:defRPr sz="1100">
                <a:solidFill>
                  <a:srgbClr val="0F172A"/>
                </a:solidFill>
              </a:defRPr>
            </a:pPr>
            <a:r>
              <a:t>• Definition:</a:t>
            </a:r>
            <a:br/>
            <a:r>
              <a:t>  Array of integers storing starting indices of all suffixes sorted in lexicographical order.</a:t>
            </a:r>
            <a:br/>
            <a:br/>
            <a:r>
              <a:t>• Prefix Doubling Technique:</a:t>
            </a:r>
            <a:br/>
            <a:r>
              <a:t>  Sorts substrings of length 2^k using rank pairs (rank[i], rank[i + 2^(k-1)]). Terminates in ⌈log₂ n⌉ sorting passes.</a:t>
            </a:r>
            <a:br/>
            <a:br/>
            <a:r>
              <a:t>• Conceptual SA-IS vs Doubling:</a:t>
            </a:r>
            <a:br/>
            <a:r>
              <a:t>  SA-IS achieves O(n) using induced sorting; prefix doubling achieves practical O(n log² n) with clean, explainable student code.</a:t>
            </a:r>
            <a:br/>
            <a:br/>
            <a:r>
              <a:t>• Banana Check: SA = [5, 3, 1, 0, 4, 2]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563EB"/>
                </a:solidFill>
              </a:defRPr>
            </a:pPr>
            <a:r>
              <a:t>KASAI LCP &amp; SUFFIX AUTOMATA PREVIEW</a:t>
            </a:r>
          </a:p>
          <a:p>
            <a:pPr>
              <a:lnSpc>
                <a:spcPct val="130000"/>
              </a:lnSpc>
              <a:defRPr sz="1100">
                <a:solidFill>
                  <a:srgbClr val="0F172A"/>
                </a:solidFill>
              </a:defRPr>
            </a:pPr>
            <a:r>
              <a:t>• Kasai Linear O(n) Algorithm:</a:t>
            </a:r>
            <a:br/>
            <a:r>
              <a:t>  Uses the inverse SA (rank array). Traverses suffixes in text order. Suffix (i + 1) shares at least (h - 1) characters with its predecessor. Reusing (h - 1) guarantees &lt;= 2n comparisons.</a:t>
            </a:r>
            <a:br/>
            <a:br/>
            <a:r>
              <a:t>• Banana LCP: [0, 1, 3, 0, 0, 2]</a:t>
            </a:r>
            <a:br/>
            <a:br/>
            <a:r>
              <a:t>• Suffix Automata &amp; Trees Preview:</a:t>
            </a:r>
            <a:br/>
            <a:r>
              <a:t>  - Suffix Trees allow O(m) search but suffer 20x-40x memory pointer overhead.</a:t>
            </a:r>
            <a:br/>
            <a:r>
              <a:t>  - Suffix Automaton (DAWG) represents all substrings in O(n) states and transitions.</a:t>
            </a:r>
            <a:br/>
            <a:r>
              <a:t>  - Suffix Array + LCP provides the sweet spot: 4n bytes with equivalent query power!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2 · MINING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Repeated Substring Mining via Suffix Array + LCP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2563EB"/>
                </a:solidFill>
              </a:defRPr>
            </a:pPr>
            <a:r>
              <a:t>LCP INTERVAL STACK ALGORITHM</a:t>
            </a:r>
          </a:p>
          <a:p>
            <a:pPr>
              <a:lnSpc>
                <a:spcPct val="135000"/>
              </a:lnSpc>
              <a:defRPr sz="1150">
                <a:solidFill>
                  <a:srgbClr val="0F172A"/>
                </a:solidFill>
              </a:defRPr>
            </a:pPr>
            <a:r>
              <a:t>• The Theoretical Insight:</a:t>
            </a:r>
            <a:br/>
            <a:r>
              <a:t>  In a sorted Suffix Array, suffixes sharing common prefixes are placed immediately adjacent. Repeated substrings are LCP intervals.</a:t>
            </a:r>
            <a:br/>
            <a:br/>
            <a:r>
              <a:t>• Linear Stack Processing:</a:t>
            </a:r>
            <a:br/>
            <a:r>
              <a:t>  Maintains a stack of (lcp, start_idx). When LCP drops, intervals with lcp &gt;= minLength are popped.</a:t>
            </a:r>
            <a:br/>
            <a:br/>
            <a:r>
              <a:t>• Extracted Metadata:</a:t>
            </a:r>
            <a:br/>
            <a:r>
              <a:t>  - Pattern Substring: text[SA[start] ... SA[start] + LCP]</a:t>
            </a:r>
            <a:br/>
            <a:r>
              <a:t>  - Occurrences: (end_idx - start_idx + 1)</a:t>
            </a:r>
            <a:br/>
            <a:r>
              <a:t>  - All Starting Positions: {SA[start], ..., SA[end]}</a:t>
            </a:r>
            <a:br/>
            <a:br/>
            <a:r>
              <a:t>• Eliminates quadratic brute-force substring maps.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08760"/>
            <a:ext cx="4937760" cy="4663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830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LIVE MINING OUTPUT DEMO</a:t>
            </a:r>
          </a:p>
          <a:p>
            <a:pPr>
              <a:lnSpc>
                <a:spcPct val="125000"/>
              </a:lnSpc>
              <a:defRPr sz="1050">
                <a:solidFill>
                  <a:srgbClr val="FFFFFF"/>
                </a:solidFill>
                <a:latin typeface="Consolas"/>
              </a:defRPr>
            </a:pPr>
            <a:r>
              <a:t>Text:</a:t>
            </a:r>
            <a:br/>
            <a:r>
              <a:t>"banana is a banana. banana patterns..."</a:t>
            </a:r>
            <a:br/>
            <a:r>
              <a:t>Min Pattern Length: 6</a:t>
            </a:r>
            <a:br/>
            <a:br/>
            <a:r>
              <a:t>Repeated Patterns Discovered:</a:t>
            </a:r>
            <a:br/>
            <a:r>
              <a:t>No. | Pattern   | Length | Occurrences</a:t>
            </a:r>
            <a:br/>
            <a:r>
              <a:t>----+-----------+--------+------------</a:t>
            </a:r>
            <a:br/>
            <a:r>
              <a:t>1   | banana    |   6    |     3      </a:t>
            </a:r>
            <a:br/>
            <a:r>
              <a:t>2   |  banana   |   7    |     2      </a:t>
            </a:r>
            <a:br/>
            <a:r>
              <a:t>3   | banana    |   7    |     2      </a:t>
            </a:r>
            <a:br/>
            <a:br/>
            <a:r>
              <a:t>Top Repeated Pattern:</a:t>
            </a:r>
            <a:br/>
            <a:r>
              <a:t>• Pattern:     "banana"</a:t>
            </a:r>
            <a:br/>
            <a:r>
              <a:t>• Length:      6</a:t>
            </a:r>
            <a:br/>
            <a:r>
              <a:t>• Occurrences: 3</a:t>
            </a:r>
            <a:br/>
            <a:r>
              <a:t>• Positions:   [0, 12, 20]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3 · ADVANCED DYNAMIC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Wagner-Fischer, Alignment, Advanced DP Families &amp;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EDIT DISTANCE &amp; SEQUENCE ALIGNMENT</a:t>
            </a:r>
          </a:p>
          <a:p>
            <a:pPr>
              <a:lnSpc>
                <a:spcPct val="130000"/>
              </a:lnSpc>
              <a:defRPr sz="1100">
                <a:solidFill>
                  <a:srgbClr val="0F172A"/>
                </a:solidFill>
              </a:defRPr>
            </a:pPr>
            <a:r>
              <a:t>• Wagner-Fischer 2D DP (Implemented):</a:t>
            </a:r>
            <a:br/>
            <a:r>
              <a:t>  O(mn) table computing Levenshtein distance:</a:t>
            </a:r>
            <a:br/>
            <a:r>
              <a:t>  dp[i][j] = 1 + min(delete, insert, substitute).</a:t>
            </a:r>
            <a:br/>
            <a:r>
              <a:t>  Powers TextHack's fuzzy spelling match.</a:t>
            </a:r>
            <a:br/>
            <a:br/>
            <a:r>
              <a:t>• Edit Distance Variants:</a:t>
            </a:r>
            <a:br/>
            <a:r>
              <a:t>  - Levenshtein (ins, del, sub)</a:t>
            </a:r>
            <a:br/>
            <a:r>
              <a:t>  - Damerau-Levenshtein (transposition of adjacent chars)</a:t>
            </a:r>
            <a:br/>
            <a:r>
              <a:t>  - Weighted Edit Distance (variable operation costs)</a:t>
            </a:r>
            <a:br/>
            <a:br/>
            <a:r>
              <a:t>• Sequence Alignment for Genomes:</a:t>
            </a:r>
            <a:br/>
            <a:r>
              <a:t>  - Needleman-Wunsch: Global alignment</a:t>
            </a:r>
            <a:br/>
            <a:r>
              <a:t>  - Smith-Waterman: Local alignment</a:t>
            </a:r>
            <a:br/>
            <a:r>
              <a:t>  - Affine gap penalties (gap opening vs extension)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ADVANCED DP FAMILIES &amp; BOUNDARIES</a:t>
            </a:r>
          </a:p>
          <a:p>
            <a:pPr>
              <a:lnSpc>
                <a:spcPct val="130000"/>
              </a:lnSpc>
              <a:defRPr sz="1100">
                <a:solidFill>
                  <a:srgbClr val="0F172A"/>
                </a:solidFill>
              </a:defRPr>
            </a:pPr>
            <a:r>
              <a:t>• Advanced Syllabus DP Families:</a:t>
            </a:r>
            <a:br/>
            <a:r>
              <a:t>  - Interval DP: Matrix-chain mult, Optimal BST (O(n³), O(n² log n)).</a:t>
            </a:r>
            <a:br/>
            <a:r>
              <a:t>  - Bitmask DP: TSP in O(2ⁿ · n²), Hamiltonian path.</a:t>
            </a:r>
            <a:br/>
            <a:r>
              <a:t>  - Tree DP: Subset sums, tree diameter, rerooting technique.</a:t>
            </a:r>
            <a:br/>
            <a:r>
              <a:t>  - SOS DP: Sum-over-subsets in O(n · 2ⁿ) for inclusion-exclusion.</a:t>
            </a:r>
            <a:br/>
            <a:br/>
            <a:r>
              <a:t>• When DP is the Wrong Tool:</a:t>
            </a:r>
            <a:br/>
            <a:r>
              <a:t>  1. No overlapping subproblems (e.g. Divide &amp; Conquer suffices).</a:t>
            </a:r>
            <a:br/>
            <a:r>
              <a:t>  2. Greedy choice property holds (e.g. Huffman coding, MST).</a:t>
            </a:r>
            <a:br/>
            <a:r>
              <a:t>  3. Exponential state space without bitmask compression (NP-hard).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SYLLABUS ASYMPTOTIC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Time &amp; Space Complexity Across Modules 1–3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194560"/>
                <a:gridCol w="1828800"/>
                <a:gridCol w="2864815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Time Complexity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Space Complexity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 in TextHack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Module 2 (Strings)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O(n +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Linear exact search without rewind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Z-Algorithm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Module 2 (Strings)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O(n + 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O(n + 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Prefix matching via [L, R] window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Rabin-Karp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Module 2 &amp;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Average O(n +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Double rolling hash + 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Aho-Corasick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Module 2 (Strings)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O(n + ∑m + z)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O(∑m)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Multi-pattern keyword automaton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Suffix Array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Module 2 (Strings)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O(n log² 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Prefix doubling text index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Kasai LCP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Module 2 (Strings)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Linear LCP build reusing (h - 1)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Pattern Miner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Module 2 (Strings)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O(n) on SA+LCP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O(repeats)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Repeated pattern mining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Edit Distance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Module 3 (DP)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O(m · 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O(m · 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Wagner-Fischer 2D DP fuzzy match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Windows CMD Execution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4663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WINDOWS COMMAND PROMPT (CMD) — LIVE DEMO COMMANDS</a:t>
            </a:r>
          </a:p>
          <a:p>
            <a:pPr>
              <a:lnSpc>
                <a:spcPct val="125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t># 1. Compile all Java classes cleanly:</a:t>
            </a:r>
            <a:br/>
            <a:r>
              <a:t>compile.bat</a:t>
            </a:r>
            <a:br/>
            <a:br/>
            <a:r>
              <a:t># 2. Run master test suite (64 automated unit tests):</a:t>
            </a:r>
            <a:br/>
            <a:r>
              <a:t>java -cp bin RunAllTests</a:t>
            </a:r>
            <a:br/>
            <a:br/>
            <a:r>
              <a:t># 3. Demonstrate individual algorithms:</a:t>
            </a:r>
            <a:br/>
            <a:r>
              <a:t>java -cp bin KMP ABABABAB ABAB</a:t>
            </a:r>
            <a:br/>
            <a:r>
              <a:t>java -cp bin ZFunction ABABABAB ABAB</a:t>
            </a:r>
            <a:br/>
            <a:r>
              <a:t>java -cp bin RabinKarp ABABABAB ABAB</a:t>
            </a:r>
            <a:br/>
            <a:r>
              <a:t>java -cp bin AhoCorasick ushers he she his hers</a:t>
            </a:r>
            <a:br/>
            <a:r>
              <a:t>java -cp bin SuffixArray banana</a:t>
            </a:r>
            <a:br/>
            <a:r>
              <a:t>java -cp bin KasaiLCP banana</a:t>
            </a:r>
            <a:br/>
            <a:r>
              <a:t>java -cp bin PatternMiner "banana is a banana. banana patterns are repeated." 6</a:t>
            </a:r>
            <a:br/>
            <a:r>
              <a:t>java -cp bin EditDistance kitten sitting</a:t>
            </a:r>
            <a:br/>
            <a:r>
              <a:t>java -cp bin CorpusLoader data/corpus.txt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Phase 1 Implemented vs Phase 2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10B981"/>
                </a:solidFill>
              </a:defRPr>
            </a:pPr>
            <a:r>
              <a:t>PHASE 1: IMPLEMENTED (CURRENT)</a:t>
            </a:r>
          </a:p>
          <a:p>
            <a:pPr>
              <a:lnSpc>
                <a:spcPct val="135000"/>
              </a:lnSpc>
              <a:defRPr sz="1100">
                <a:solidFill>
                  <a:srgbClr val="0F172A"/>
                </a:solidFill>
              </a:defRPr>
            </a:pPr>
            <a:r>
              <a:t>✔ UTF-8 Indian-language corpus ingestion (Hindi, Telugu, English)</a:t>
            </a:r>
            <a:br/>
            <a:r>
              <a:t>✔ KMP exact matching with manual LPS failure function</a:t>
            </a:r>
            <a:br/>
            <a:r>
              <a:t>✔ Linear Z-function with [L, R] window</a:t>
            </a:r>
            <a:br/>
            <a:r>
              <a:t>✔ Rabin-Karp double rolling hash with character verification</a:t>
            </a:r>
            <a:br/>
            <a:r>
              <a:t>✔ Aho-Corasick multi-pattern Trie &amp; BFS links</a:t>
            </a:r>
            <a:br/>
            <a:r>
              <a:t>✔ Practical Suffix Array prefix doubling O(n log² n)</a:t>
            </a:r>
            <a:br/>
            <a:r>
              <a:t>✔ Kasai linear O(n) LCP array via (h - 1) reuse</a:t>
            </a:r>
            <a:br/>
            <a:r>
              <a:t>✔ Repeated Pattern Mining via LCP interval stack</a:t>
            </a:r>
            <a:br/>
            <a:r>
              <a:t>✔ Wagner-Fischer 2D Dynamic Programming</a:t>
            </a:r>
            <a:br/>
            <a:r>
              <a:t>✔ 64/64 automated unit tests passing in CMD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64748B"/>
                </a:solidFill>
              </a:defRPr>
            </a:pPr>
            <a:r>
              <a:t>PHASE 2: FUTURE MODULES</a:t>
            </a:r>
          </a:p>
          <a:p>
            <a:pPr>
              <a:lnSpc>
                <a:spcPct val="135000"/>
              </a:lnSpc>
              <a:defRPr sz="1100">
                <a:solidFill>
                  <a:srgbClr val="64748B"/>
                </a:solidFill>
              </a:defRPr>
            </a:pPr>
            <a:r>
              <a:t>⏳ LZ-style copy-token encoding and decoding</a:t>
            </a:r>
            <a:br/>
            <a:r>
              <a:t>⏳ DP-optimal parsing for minimum encoded size factorisation</a:t>
            </a:r>
            <a:br/>
            <a:r>
              <a:t>⏳ Actual file compression &amp; decompression output</a:t>
            </a:r>
            <a:br/>
            <a:r>
              <a:t>⏳ Compression ratio benchmarking against gzip</a:t>
            </a:r>
            <a:br/>
            <a:r>
              <a:t>⏳ Cross-document similarity scoring</a:t>
            </a:r>
            <a:br/>
            <a:r>
              <a:t>⏳ Citation-flow analysis over academic corpora</a:t>
            </a:r>
            <a:br/>
            <a:r>
              <a:t>⏳ Extended randomized universal hash families</a:t>
            </a:r>
            <a:br/>
            <a:r>
              <a:t>⏳ Approximations for NP-hard scheduling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